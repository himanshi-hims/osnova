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SNOVA" id="{5B97738B-12EA-E178-FF41-0347CCC3971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OSNOVA  |  AI-Powered Study Assistant using RAG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5C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5C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1280160"/>
            <a:ext cx="0" cy="20116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9692640" y="2286000"/>
            <a:ext cx="1737360" cy="10058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3291840"/>
            <a:ext cx="1737360" cy="10058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3291840"/>
            <a:ext cx="0" cy="20116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7955280" y="3291840"/>
            <a:ext cx="1737360" cy="10058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7955280" y="2286000"/>
            <a:ext cx="1737360" cy="10058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8" name="Node 1"/>
          <p:cNvSpPr/>
          <p:nvPr/>
        </p:nvSpPr>
        <p:spPr>
          <a:xfrm>
            <a:off x="9436608" y="1024128"/>
            <a:ext cx="512064" cy="5120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Node 2"/>
          <p:cNvSpPr/>
          <p:nvPr/>
        </p:nvSpPr>
        <p:spPr>
          <a:xfrm>
            <a:off x="11173968" y="2029968"/>
            <a:ext cx="512064" cy="512064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Node 3"/>
          <p:cNvSpPr/>
          <p:nvPr/>
        </p:nvSpPr>
        <p:spPr>
          <a:xfrm>
            <a:off x="11173968" y="4041648"/>
            <a:ext cx="512064" cy="5120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Node 4"/>
          <p:cNvSpPr/>
          <p:nvPr/>
        </p:nvSpPr>
        <p:spPr>
          <a:xfrm>
            <a:off x="9436608" y="5047488"/>
            <a:ext cx="512064" cy="512064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Node 5"/>
          <p:cNvSpPr/>
          <p:nvPr/>
        </p:nvSpPr>
        <p:spPr>
          <a:xfrm>
            <a:off x="7699248" y="4041648"/>
            <a:ext cx="512064" cy="5120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Node 6"/>
          <p:cNvSpPr/>
          <p:nvPr/>
        </p:nvSpPr>
        <p:spPr>
          <a:xfrm>
            <a:off x="7699248" y="2029968"/>
            <a:ext cx="512064" cy="512064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Hub"/>
          <p:cNvSpPr/>
          <p:nvPr/>
        </p:nvSpPr>
        <p:spPr>
          <a:xfrm>
            <a:off x="9098280" y="2697480"/>
            <a:ext cx="1188720" cy="11887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RAG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005840"/>
            <a:ext cx="676656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OSNOVA:</a:t>
            </a:r>
            <a:endParaRPr lang="en-US" sz="1400" dirty="0"/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An AI-Powered Study Assistant Using Retrieval-Augmented Generation (RAG)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1188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tx2"/>
                </a:solidFill>
              </a:rPr>
              <a:t>Intelligent, Context-Aware Learning from Study Materials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572000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Himanshi Srivastava (24BKT0034)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Aditya Khandelwal (24BDS0412)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Introduction and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OSNOVA is an AI-powered study assistant that uses Retrieval-Augmented Generation (RAG) to answer questions from study materials, while also supporting general-purpose conversational responses.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393192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Searching lengthy notes and PDFs is time-consuming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General AI answers may not be grounded in the student's notes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Students need both note-based and flexible explanations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6052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26280"/>
            <a:ext cx="393192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Make study materials easier to search and understand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Generate context-aware answers using RAG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Support strict, note-grounded and flexible learning</a:t>
            </a:r>
            <a:endParaRPr lang="en-US" sz="1400" dirty="0"/>
          </a:p>
        </p:txBody>
      </p:sp>
      <p:sp>
        <p:nvSpPr>
          <p:cNvPr id="8" name="Root"/>
          <p:cNvSpPr/>
          <p:nvPr/>
        </p:nvSpPr>
        <p:spPr>
          <a:xfrm>
            <a:off x="4754880" y="2011680"/>
            <a:ext cx="69494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OSNOVA Study Assistant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0" y="2606040"/>
            <a:ext cx="0" cy="2286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3660" y="2834640"/>
            <a:ext cx="36118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3660" y="2834640"/>
            <a:ext cx="0" cy="2743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035540" y="2834640"/>
            <a:ext cx="0" cy="2743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trict RAG"/>
          <p:cNvSpPr/>
          <p:nvPr/>
        </p:nvSpPr>
        <p:spPr>
          <a:xfrm>
            <a:off x="4754880" y="3108960"/>
            <a:ext cx="33375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1. Strict RAG Mode</a:t>
            </a:r>
            <a:endParaRPr lang="en-US" sz="13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Retrieves relevant chunks from indexed study documents</a:t>
            </a:r>
            <a:endParaRPr lang="en-US" sz="13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Answers grounded in retrieved context</a:t>
            </a:r>
            <a:endParaRPr lang="en-US" sz="13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Aims to reduce unsupported claims</a:t>
            </a:r>
            <a:endParaRPr lang="en-US" sz="13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 context is insufficient, states the notes lack enough information</a:t>
            </a:r>
            <a:endParaRPr lang="en-US" sz="1300" dirty="0"/>
          </a:p>
        </p:txBody>
      </p:sp>
      <p:sp>
        <p:nvSpPr>
          <p:cNvPr id="14" name="Flexible RAG"/>
          <p:cNvSpPr/>
          <p:nvPr/>
        </p:nvSpPr>
        <p:spPr>
          <a:xfrm>
            <a:off x="8366760" y="3108960"/>
            <a:ext cx="33375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2. Flexible RAG Mode</a:t>
            </a:r>
            <a:endParaRPr lang="en-US" sz="13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Uses retrieved notes as contextual guidance</a:t>
            </a:r>
            <a:endParaRPr lang="en-US" sz="13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Allows broader explanations and general knowledge</a:t>
            </a:r>
            <a:endParaRPr lang="en-US" sz="13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Helps understand concepts beyond exact note wording</a:t>
            </a:r>
            <a:endParaRPr lang="en-US" sz="13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May include content beyond the notes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5C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Indexing (stages 1-5)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71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Querying (stages 6-10)</a:t>
            </a:r>
            <a:endParaRPr lang="en-US" sz="1300" dirty="0"/>
          </a:p>
        </p:txBody>
      </p:sp>
      <p:sp>
        <p:nvSpPr>
          <p:cNvPr id="5" name="Stage 1"/>
          <p:cNvSpPr/>
          <p:nvPr/>
        </p:nvSpPr>
        <p:spPr>
          <a:xfrm>
            <a:off x="457200" y="1417320"/>
            <a:ext cx="2011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 Document Collection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Subject notes and study PDFs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87168" y="2103120"/>
            <a:ext cx="25603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Stage 2"/>
          <p:cNvSpPr/>
          <p:nvPr/>
        </p:nvSpPr>
        <p:spPr>
          <a:xfrm>
            <a:off x="2766060" y="1417320"/>
            <a:ext cx="2011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2. Document Processing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Text extracted from PDFs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96028" y="2103120"/>
            <a:ext cx="25603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tage 3"/>
          <p:cNvSpPr/>
          <p:nvPr/>
        </p:nvSpPr>
        <p:spPr>
          <a:xfrm>
            <a:off x="5074920" y="1417320"/>
            <a:ext cx="2011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3. Text Chunking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Text split into retrievable chunks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04888" y="2103120"/>
            <a:ext cx="25603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Stage 4"/>
          <p:cNvSpPr/>
          <p:nvPr/>
        </p:nvSpPr>
        <p:spPr>
          <a:xfrm>
            <a:off x="7383780" y="1417320"/>
            <a:ext cx="2011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4. Embedding Generation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Chunks converted to vectors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413748" y="2103120"/>
            <a:ext cx="25603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tage 5"/>
          <p:cNvSpPr/>
          <p:nvPr/>
        </p:nvSpPr>
        <p:spPr>
          <a:xfrm>
            <a:off x="9692640" y="1417320"/>
            <a:ext cx="2011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5. Vector Storage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Embeddings and text stored in ChromaDB</a:t>
            </a:r>
            <a:endParaRPr lang="en-US" sz="1300" dirty="0"/>
          </a:p>
        </p:txBody>
      </p:sp>
      <p:sp>
        <p:nvSpPr>
          <p:cNvPr id="14" name="Stage 6"/>
          <p:cNvSpPr/>
          <p:nvPr/>
        </p:nvSpPr>
        <p:spPr>
          <a:xfrm>
            <a:off x="457200" y="3291840"/>
            <a:ext cx="2011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6. Query Processing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Question converted to a retrieval query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87168" y="3977640"/>
            <a:ext cx="25603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tage 7"/>
          <p:cNvSpPr/>
          <p:nvPr/>
        </p:nvSpPr>
        <p:spPr>
          <a:xfrm>
            <a:off x="2766060" y="3291840"/>
            <a:ext cx="2011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7. Context Retrieval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Most similar chunks retrieved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96028" y="3977640"/>
            <a:ext cx="25603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tage 8"/>
          <p:cNvSpPr/>
          <p:nvPr/>
        </p:nvSpPr>
        <p:spPr>
          <a:xfrm>
            <a:off x="5074920" y="3291840"/>
            <a:ext cx="2011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8. Response Generation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Question and context passed to the language model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04888" y="3977640"/>
            <a:ext cx="25603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tage 9"/>
          <p:cNvSpPr/>
          <p:nvPr/>
        </p:nvSpPr>
        <p:spPr>
          <a:xfrm>
            <a:off x="7383780" y="3291840"/>
            <a:ext cx="2011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9. Mode-Specific Processing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Strict or Flexible RAG logic applied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413748" y="3977640"/>
            <a:ext cx="25603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Stage 10"/>
          <p:cNvSpPr/>
          <p:nvPr/>
        </p:nvSpPr>
        <p:spPr>
          <a:xfrm>
            <a:off x="9692640" y="3291840"/>
            <a:ext cx="2011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10. Answer Presentation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Shown in OSNOVA UI with sources where supported</a:t>
            </a:r>
            <a:endParaRPr lang="en-US" sz="1300" dirty="0"/>
          </a:p>
        </p:txBody>
      </p:sp>
      <p:sp>
        <p:nvSpPr>
          <p:cNvPr id="23" name="Config 1"/>
          <p:cNvSpPr/>
          <p:nvPr/>
        </p:nvSpPr>
        <p:spPr>
          <a:xfrm>
            <a:off x="457200" y="5029200"/>
            <a:ext cx="26974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Qwen3:4B (Ollama)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Note-grounded RAG workflow</a:t>
            </a:r>
            <a:endParaRPr lang="en-US" sz="1300" dirty="0"/>
          </a:p>
        </p:txBody>
      </p:sp>
      <p:sp>
        <p:nvSpPr>
          <p:cNvPr id="24" name="Config 2"/>
          <p:cNvSpPr/>
          <p:nvPr/>
        </p:nvSpPr>
        <p:spPr>
          <a:xfrm>
            <a:off x="3319272" y="5029200"/>
            <a:ext cx="26974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Gemini API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General conversational workflow</a:t>
            </a:r>
            <a:endParaRPr lang="en-US" sz="1300" dirty="0"/>
          </a:p>
        </p:txBody>
      </p:sp>
      <p:sp>
        <p:nvSpPr>
          <p:cNvPr id="25" name="Config 3"/>
          <p:cNvSpPr/>
          <p:nvPr/>
        </p:nvSpPr>
        <p:spPr>
          <a:xfrm>
            <a:off x="6181344" y="5029200"/>
            <a:ext cx="26974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ChromaDB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Vector database</a:t>
            </a:r>
            <a:endParaRPr lang="en-US" sz="1300" dirty="0"/>
          </a:p>
        </p:txBody>
      </p:sp>
      <p:sp>
        <p:nvSpPr>
          <p:cNvPr id="26" name="Config 4"/>
          <p:cNvSpPr/>
          <p:nvPr/>
        </p:nvSpPr>
        <p:spPr>
          <a:xfrm>
            <a:off x="9043416" y="5029200"/>
            <a:ext cx="26974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RAG, not fine-tuning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Retrieval supplies the knowledge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5C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Document ingestion flow</a:t>
            </a:r>
            <a:endParaRPr lang="en-US" sz="1300" dirty="0"/>
          </a:p>
        </p:txBody>
      </p:sp>
      <p:sp>
        <p:nvSpPr>
          <p:cNvPr id="4" name="Ingest 1"/>
          <p:cNvSpPr/>
          <p:nvPr/>
        </p:nvSpPr>
        <p:spPr>
          <a:xfrm>
            <a:off x="457200" y="141732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Study PDFs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Source notes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95728" y="1847088"/>
            <a:ext cx="3749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Ingest 2"/>
          <p:cNvSpPr/>
          <p:nvPr/>
        </p:nvSpPr>
        <p:spPr>
          <a:xfrm>
            <a:off x="2788920" y="141732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Text Extraction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Reads PDF 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27448" y="1847088"/>
            <a:ext cx="3749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Ingest 3"/>
          <p:cNvSpPr/>
          <p:nvPr/>
        </p:nvSpPr>
        <p:spPr>
          <a:xfrm>
            <a:off x="5120640" y="141732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Chunking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Splits text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59168" y="1847088"/>
            <a:ext cx="3749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Ingest 4"/>
          <p:cNvSpPr/>
          <p:nvPr/>
        </p:nvSpPr>
        <p:spPr>
          <a:xfrm>
            <a:off x="7452360" y="141732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Embeddings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Vector per chunk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90888" y="1847088"/>
            <a:ext cx="3749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Ingest 5"/>
          <p:cNvSpPr/>
          <p:nvPr/>
        </p:nvSpPr>
        <p:spPr>
          <a:xfrm>
            <a:off x="9784080" y="141732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ChromaDB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Vector database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744200" y="2286000"/>
            <a:ext cx="0" cy="8229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6080760" y="3108960"/>
            <a:ext cx="46634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3108960"/>
            <a:ext cx="0" cy="7772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589520" y="32004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similarity search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Query flow</a:t>
            </a:r>
            <a:endParaRPr lang="en-US" sz="1300" dirty="0"/>
          </a:p>
        </p:txBody>
      </p:sp>
      <p:sp>
        <p:nvSpPr>
          <p:cNvPr id="18" name="Query 1"/>
          <p:cNvSpPr/>
          <p:nvPr/>
        </p:nvSpPr>
        <p:spPr>
          <a:xfrm>
            <a:off x="457200" y="388620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User Interface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Question in, mode selected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95728" y="4526280"/>
            <a:ext cx="3749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Query 2"/>
          <p:cNvSpPr/>
          <p:nvPr/>
        </p:nvSpPr>
        <p:spPr>
          <a:xfrm>
            <a:off x="2788920" y="388620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Application Backend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Routes by selected mode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27448" y="4526280"/>
            <a:ext cx="3749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Query 3"/>
          <p:cNvSpPr/>
          <p:nvPr/>
        </p:nvSpPr>
        <p:spPr>
          <a:xfrm>
            <a:off x="5120640" y="388620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Retrieval Module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Finds relevant chunks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59168" y="4526280"/>
            <a:ext cx="3749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390888" y="4526280"/>
            <a:ext cx="3749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Query 5"/>
          <p:cNvSpPr/>
          <p:nvPr/>
        </p:nvSpPr>
        <p:spPr>
          <a:xfrm>
            <a:off x="9784080" y="388620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Response Generation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Strict or Flexible RAG logic</a:t>
            </a:r>
            <a:endParaRPr lang="en-US" sz="1300" dirty="0"/>
          </a:p>
        </p:txBody>
      </p:sp>
      <p:sp>
        <p:nvSpPr>
          <p:cNvPr id="26" name="Language Model Layer"/>
          <p:cNvSpPr/>
          <p:nvPr/>
        </p:nvSpPr>
        <p:spPr>
          <a:xfrm>
            <a:off x="7452360" y="388620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Language Model Layer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Qwen3:4B (Ollama): note-grounded RAG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Gemini API: general conversation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972800" y="5166360"/>
            <a:ext cx="0" cy="4114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1417320" y="5577840"/>
            <a:ext cx="9555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417320" y="5184648"/>
            <a:ext cx="0" cy="39319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4206240" y="56692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tx2"/>
                </a:solidFill>
              </a:rPr>
              <a:t>Answer and source information returned to the UI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Mode-based routing: each request follows one path, so both models are not called for every question.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5C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Frontend"/>
          <p:cNvSpPr/>
          <p:nvPr/>
        </p:nvSpPr>
        <p:spPr>
          <a:xfrm>
            <a:off x="457200" y="1188720"/>
            <a:ext cx="69494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Frontend: HTML, CSS and JavaScript</a:t>
            </a:r>
            <a:endParaRPr lang="en-US" sz="1300" dirty="0"/>
          </a:p>
          <a:p>
            <a:pPr marL="177800" indent="-177800" algn="l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index.html: page structure and chat interface</a:t>
            </a:r>
            <a:endParaRPr lang="en-US" sz="1300" dirty="0"/>
          </a:p>
          <a:p>
            <a:pPr marL="177800" indent="-177800" algn="l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style.css: layout and visual theme</a:t>
            </a:r>
            <a:endParaRPr lang="en-US" sz="1300" dirty="0"/>
          </a:p>
          <a:p>
            <a:pPr marL="177800" indent="-177800" algn="l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app.js: handles user input and displays answers</a:t>
            </a:r>
            <a:endParaRPr lang="en-US" sz="1300" dirty="0"/>
          </a:p>
          <a:p>
            <a:pPr marL="177800" indent="-177800" algn="l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bg.js: animated background</a:t>
            </a:r>
            <a:endParaRPr lang="en-US" sz="1300" dirty="0"/>
          </a:p>
        </p:txBody>
      </p:sp>
      <p:sp>
        <p:nvSpPr>
          <p:cNvPr id="4" name="Backend"/>
          <p:cNvSpPr/>
          <p:nvPr/>
        </p:nvSpPr>
        <p:spPr>
          <a:xfrm>
            <a:off x="457200" y="3337560"/>
            <a:ext cx="69494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Backend: Python only</a:t>
            </a:r>
            <a:endParaRPr lang="en-US" sz="1300" dirty="0"/>
          </a:p>
          <a:p>
            <a:pPr marL="177800" indent="-177800" algn="l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app_server.py: server receiving requests from the UI</a:t>
            </a:r>
            <a:endParaRPr lang="en-US" sz="1300" dirty="0"/>
          </a:p>
          <a:p>
            <a:pPr marL="177800" indent="-177800" algn="l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rag_service.py: retrieval and response-generation logic</a:t>
            </a:r>
            <a:endParaRPr lang="en-US" sz="1300" dirty="0"/>
          </a:p>
          <a:p>
            <a:pPr marL="177800" indent="-177800" algn="l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requirements.txt: Python dependencies</a:t>
            </a:r>
            <a:endParaRPr lang="en-US" sz="1300" dirty="0"/>
          </a:p>
        </p:txBody>
      </p:sp>
      <p:sp>
        <p:nvSpPr>
          <p:cNvPr id="5" name="Service 1"/>
          <p:cNvSpPr/>
          <p:nvPr/>
        </p:nvSpPr>
        <p:spPr>
          <a:xfrm>
            <a:off x="457200" y="5120640"/>
            <a:ext cx="21945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ChromaDB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Vector store (chroma_db)</a:t>
            </a:r>
            <a:endParaRPr lang="en-US" sz="1300" dirty="0"/>
          </a:p>
        </p:txBody>
      </p:sp>
      <p:sp>
        <p:nvSpPr>
          <p:cNvPr id="6" name="Service 2"/>
          <p:cNvSpPr/>
          <p:nvPr/>
        </p:nvSpPr>
        <p:spPr>
          <a:xfrm>
            <a:off x="2834640" y="5120640"/>
            <a:ext cx="21945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Ollama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Qwen3:4B, local model</a:t>
            </a:r>
            <a:endParaRPr lang="en-US" sz="1300" dirty="0"/>
          </a:p>
        </p:txBody>
      </p:sp>
      <p:sp>
        <p:nvSpPr>
          <p:cNvPr id="7" name="Service 3"/>
          <p:cNvSpPr/>
          <p:nvPr/>
        </p:nvSpPr>
        <p:spPr>
          <a:xfrm>
            <a:off x="5212080" y="5120640"/>
            <a:ext cx="21945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Gemini API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General conversation</a:t>
            </a:r>
            <a:endParaRPr lang="en-US" sz="1300" dirty="0"/>
          </a:p>
        </p:txBody>
      </p:sp>
      <p:pic>
        <p:nvPicPr>
          <p:cNvPr id="8" name="Project structure screenshot" descr="VS Code Explorer showing the OSTutor project fil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188720"/>
            <a:ext cx="3703320" cy="44256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01000" y="571500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tx2"/>
                </a:solidFill>
              </a:rPr>
              <a:t>Project folder structure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5C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 and Discussion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Functional Results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54864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Study PDFs can be ingested and indexed in ChromaDB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Questions are answered using retrieved context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Strict and Flexible RAG give different response behavior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user interface lets students interact with the assistant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097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Discussion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44752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Retrieval quality depends on documents, chunking, embeddings and query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Strict RAG aligns with notes but cannot answer what they omit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Flexible RAG explains more broadly but may go beyond the notes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Latency depends on inference, retrieval and processing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260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Testing (qualitative functional checks)</a:t>
            </a:r>
            <a:endParaRPr lang="en-US" sz="1400" dirty="0"/>
          </a:p>
        </p:txBody>
      </p:sp>
      <p:graphicFrame>
        <p:nvGraphicFramePr>
          <p:cNvPr id="8" name="Test table"/>
          <p:cNvGraphicFramePr>
            <a:graphicFrameLocks noGrp="1"/>
          </p:cNvGraphicFramePr>
          <p:nvPr/>
        </p:nvGraphicFramePr>
        <p:xfrm>
          <a:off x="457200" y="3246120"/>
          <a:ext cx="51206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17373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Expected Behavior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Observed Result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Relevant question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Answer from retrieved notes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To be recorded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Question absent from notes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Strict RAG states notes are insufficient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To be recorded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Strict RAG response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Grounded in notes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Grounded; slower; sometimes indirect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Flexible RAG response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Broader explanation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To be recorded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Document ingestion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PDF indexed in ChromaDB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To be recorded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943600" y="292608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Observed Limitations of the Current Implementation</a:t>
            </a:r>
            <a:endParaRPr lang="en-US" sz="1400" dirty="0"/>
          </a:p>
        </p:txBody>
      </p:sp>
      <p:graphicFrame>
        <p:nvGraphicFramePr>
          <p:cNvPr id="13" name="Limitations table"/>
          <p:cNvGraphicFramePr>
            <a:graphicFrameLocks noGrp="1"/>
          </p:cNvGraphicFramePr>
          <p:nvPr/>
        </p:nvGraphicFramePr>
        <p:xfrm>
          <a:off x="5943600" y="3246120"/>
          <a:ext cx="5760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210312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Limitation</a:t>
                      </a:r>
                      <a:endParaRPr lang="en-US" sz="11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Observed Issue</a:t>
                      </a:r>
                      <a:endParaRPr lang="en-US" sz="11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Possible Improvement</a:t>
                      </a:r>
                      <a:endParaRPr lang="en-US" sz="11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Response latency</a:t>
                      </a:r>
                      <a:endParaRPr lang="en-US" sz="105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Strict RAG takes longer: retrieval plus local Ollama inference; varies with model, hardware and query</a:t>
                      </a:r>
                      <a:endParaRPr lang="en-US" sz="105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Optimize retrieval, reduce unnecessary context, improve inference efficiency</a:t>
                      </a:r>
                      <a:endParaRPr lang="en-US" sz="105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Answer directness</a:t>
                      </a:r>
                      <a:endParaRPr lang="en-US" sz="105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The local model sometimes gives indirect or less precise answers from retrieved context</a:t>
                      </a:r>
                      <a:endParaRPr lang="en-US" sz="105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Improve prompting, refine context selection, test alternative models or settings</a:t>
                      </a:r>
                      <a:endParaRPr lang="en-US" sz="105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943600" y="5257800"/>
            <a:ext cx="5760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Retrieval does not guarantee every answer is direct or accurate. Formal quantitative evaluation (latency, relevance, groundedness) remains future work.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5C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Limitation: Answer Directness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Strict RAG (Qwen3:4B via Ollama)</a:t>
            </a:r>
            <a:endParaRPr lang="en-US" sz="1700" dirty="0"/>
          </a:p>
        </p:txBody>
      </p:sp>
      <p:pic>
        <p:nvPicPr>
          <p:cNvPr id="4" name="Strict RAG screenshot" descr="Strict RAG answer to what is a deadlock, with source panel and long reasoning-style text before the answ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4507992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532120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Query: "what is a deadlock?"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09728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Flexible RAG</a:t>
            </a:r>
            <a:endParaRPr lang="en-US" sz="1700" dirty="0"/>
          </a:p>
        </p:txBody>
      </p:sp>
      <p:pic>
        <p:nvPicPr>
          <p:cNvPr id="7" name="Flexible RAG screenshot" descr="Flexible RAG short direct answer to what is a deadlo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08760"/>
            <a:ext cx="6035040" cy="13350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0" y="2898648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Same query, shorter and more direct output</a:t>
            </a:r>
            <a:endParaRPr lang="en-US" sz="1100" dirty="0"/>
          </a:p>
        </p:txBody>
      </p:sp>
      <p:sp>
        <p:nvSpPr>
          <p:cNvPr id="9" name="Observation"/>
          <p:cNvSpPr/>
          <p:nvPr/>
        </p:nvSpPr>
        <p:spPr>
          <a:xfrm>
            <a:off x="5669280" y="3337560"/>
            <a:ext cx="6035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Observed in this example</a:t>
            </a:r>
            <a:endParaRPr lang="en-US" sz="13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Strict answers can be very indirect: the output narrates the context and instructions before stating the definition</a:t>
            </a:r>
            <a:endParaRPr lang="en-US" sz="13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grounded definition is present, with page-level sources, but buried in a long response</a:t>
            </a:r>
            <a:endParaRPr lang="en-US" sz="13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Flexible RAG answered the same question briefly and directly</a:t>
            </a:r>
            <a:endParaRPr lang="en-US" sz="13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Possible fix: refine prompts, trim reasoning-style text, test other models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5C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Conclusion and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Conclusion (implemented)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530352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RAG supports document-grounded academic learning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ChromaDB enables semantic retrieval of study content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Strict RAG emphasizes answers grounded in indexed notes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Flexible RAG supports broader conceptual explanations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Combines retrieval, language models and an interactive interface</a:t>
            </a:r>
            <a:endParaRPr lang="en-US" sz="1400" dirty="0"/>
          </a:p>
        </p:txBody>
      </p:sp>
      <p:sp>
        <p:nvSpPr>
          <p:cNvPr id="5" name="Future panel"/>
          <p:cNvSpPr/>
          <p:nvPr/>
        </p:nvSpPr>
        <p:spPr>
          <a:xfrm>
            <a:off x="6126480" y="1097280"/>
            <a:ext cx="557784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2344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Future Scope (proposed, not yet implemented)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645920"/>
            <a:ext cx="512064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Reduce Strict RAG response time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Improve answer directness via better prompts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Evaluate alternative language models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set: latency, relevance, groundedness, accuracy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Advanced chunking and embedding strategies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More subjects and document formats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Better source attribution and verification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Personalized progress or assessment features</a:t>
            </a:r>
            <a:endParaRPr lang="en-US" sz="1400" dirty="0"/>
          </a:p>
        </p:txBody>
      </p:sp>
      <p:sp>
        <p:nvSpPr>
          <p:cNvPr id="8" name="Closing statement"/>
          <p:cNvSpPr/>
          <p:nvPr/>
        </p:nvSpPr>
        <p:spPr>
          <a:xfrm>
            <a:off x="457200" y="5577840"/>
            <a:ext cx="1124712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OSNOVA bridges the gap between study materials and interactive AI-assisted learning.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5C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Research Papers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1124712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[1] Lewis, P., et al. (2020). Retrieval-Augmented Generation for Knowledge-Intensive NLP Tasks. Advances in Neural Information Processing Systems (NeurIPS), 33.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[2] Yang, A., et al. (2025). Qwen3 Technical Report. arXiv:2505.09388.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175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Software Documentation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83280"/>
            <a:ext cx="1124712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[3] Chroma. Official documentation. https://docs.trychroma.com/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[4] Ollama. Official documentation. https://docs.ollama.com/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Model and API Documentation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93776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[5] Google AI for Developers. Gemini API documentation. https://ai.google.dev/gemini-api/docs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5C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NOVA Light">
  <a:themeElements>
    <a:clrScheme name="OSNOVA Light">
      <a:dk1>
        <a:srgbClr val="222222"/>
      </a:dk1>
      <a:lt1>
        <a:srgbClr val="FAF8F4"/>
      </a:lt1>
      <a:dk2>
        <a:srgbClr val="5C5C5C"/>
      </a:dk2>
      <a:lt2>
        <a:srgbClr val="E6EDE7"/>
      </a:lt2>
      <a:accent1>
        <a:srgbClr val="4A6B57"/>
      </a:accent1>
      <a:accent2>
        <a:srgbClr val="2F4A3B"/>
      </a:accent2>
      <a:accent3>
        <a:srgbClr val="8FA596"/>
      </a:accent3>
      <a:accent4>
        <a:srgbClr val="B8C7BD"/>
      </a:accent4>
      <a:accent5>
        <a:srgbClr val="7A7A7A"/>
      </a:accent5>
      <a:accent6>
        <a:srgbClr val="D9D6CE"/>
      </a:accent6>
      <a:hlink>
        <a:srgbClr val="2F4A3B"/>
      </a:hlink>
      <a:folHlink>
        <a:srgbClr val="5C5C5C"/>
      </a:folHlink>
    </a:clrScheme>
    <a:fontScheme name="OSNOVA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SNOVA Light">
  <a:themeElements>
    <a:clrScheme name="OSNOVA Light">
      <a:dk1>
        <a:srgbClr val="222222"/>
      </a:dk1>
      <a:lt1>
        <a:srgbClr val="FAF8F4"/>
      </a:lt1>
      <a:dk2>
        <a:srgbClr val="5C5C5C"/>
      </a:dk2>
      <a:lt2>
        <a:srgbClr val="E6EDE7"/>
      </a:lt2>
      <a:accent1>
        <a:srgbClr val="4A6B57"/>
      </a:accent1>
      <a:accent2>
        <a:srgbClr val="2F4A3B"/>
      </a:accent2>
      <a:accent3>
        <a:srgbClr val="8FA596"/>
      </a:accent3>
      <a:accent4>
        <a:srgbClr val="B8C7BD"/>
      </a:accent4>
      <a:accent5>
        <a:srgbClr val="7A7A7A"/>
      </a:accent5>
      <a:accent6>
        <a:srgbClr val="D9D6CE"/>
      </a:accent6>
      <a:hlink>
        <a:srgbClr val="2F4A3B"/>
      </a:hlink>
      <a:folHlink>
        <a:srgbClr val="5C5C5C"/>
      </a:folHlink>
    </a:clrScheme>
    <a:fontScheme name="OSNOVA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6360</Words>
  <Application>WPS Presentation</Application>
  <PresentationFormat>On-screen Show (16:9)</PresentationFormat>
  <Paragraphs>302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Microsoft YaHei</vt:lpstr>
      <vt:lpstr>Arial Unicode MS</vt:lpstr>
      <vt:lpstr>OSNOVA Light</vt:lpstr>
      <vt:lpstr>PowerPoint 演示文稿</vt:lpstr>
      <vt:lpstr>Introduction and Objectives</vt:lpstr>
      <vt:lpstr>Methodology</vt:lpstr>
      <vt:lpstr>System Architecture</vt:lpstr>
      <vt:lpstr>Technology Stack</vt:lpstr>
      <vt:lpstr>Results and Discussion</vt:lpstr>
      <vt:lpstr>Limitation: Answer Directness</vt:lpstr>
      <vt:lpstr>Conclusion and Future Scope</vt:lpstr>
      <vt:lpstr>References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OSNOVA: An AI-Powered Study Assistant Using RAG</dc:title>
  <dc:creator>Himanshi Srivastava, Aditya Khandelwal</dc:creator>
  <dc:subject>PptxGenJS Presentation</dc:subject>
  <cp:lastModifiedBy>Himanshi Srivastava</cp:lastModifiedBy>
  <cp:revision>2</cp:revision>
  <dcterms:created xsi:type="dcterms:W3CDTF">2026-10-24T03:52:00Z</dcterms:created>
  <dcterms:modified xsi:type="dcterms:W3CDTF">2026-10-24T03:53:09Z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20F7F06885E844DD979FA611DFA9EAC7_13</vt:lpwstr>
  </property>
  <property fmtid="{D5CDD505-2E9C-101B-9397-08002B2CF9AE}" pid="3" name="KSOProductBuildVer">
    <vt:lpwstr>1033-12.1.0.29162</vt:lpwstr>
  </property>
</Properties>
</file>